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HACKERRANK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Fluency in Interviews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Who's Already Measuring It?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1463040" cy="4572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62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Signal analysis across 26K interview-scorecard rows · 125 AI-evaluated interviews identified · Mar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NextGen Q2 2026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 — Strong Signal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56032"/>
            <a:ext cx="1920240" cy="29260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1424" y="2926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SIGNAL ONLY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Blended AI-fluency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penetration across 6 cos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73552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evaluated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explicit AI dimensions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Scorecard templates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explicit AI 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863193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77440"/>
            <a:ext cx="54864" cy="15727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50592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 — STRONG SIGNAL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8430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Only 0.8% of interviews at these 6 companies include an explicit AI-fluency rating dimension — yet those 125 candidates were evaluated on fields like "AI Collaboration", "GenAI skills assessment", and "Use of GenAI", built inside 8 custom scorecard templates. The remaining 99.2% represents untapped opportunity. Avalara leads at 34.8% penetration; large enterprises (Adobe, ServiceNow, Dell) are under 1% — the pattern of early adoption is unmistakable.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453542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26,065 rows · Interviews_Custom_scorecard_Used_2026_03_09.csv · Sep 2025 – Feb 2026 · Strong = section_field_title matches AI keyword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 — Title-Only Signal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56032"/>
            <a:ext cx="1920240" cy="292608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1424" y="2926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TITLE-ONLY SIGNAL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penetration across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title-only companies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73552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 conducted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AI-role scorecards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Scorecard templates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named for AI roles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863193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77440"/>
            <a:ext cx="54864" cy="157276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50592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 — TITLE-ONLY SIGNAL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8430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additional companies are actively building AI-role pipelines — using templates like "Applied AI Engineer Scorecard" and "Senior MLS (GenAI)" — but their rating fields don't yet explicitly score AI fluency. Intact Financial leads at 22.2% penetration on these scorecards. These companies are the highest-conversion candidates for an AI Fluency product: they've already created the structure; they just need the validated dimensions.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453542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26,065 rows · Interviews_Custom_scorecard_Used_2026_03_09.csv · Sep 2025 – Feb 2026 · Title-only = scorecard title matches AI keyword, fields are generic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 — All Companies Combined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256032"/>
            <a:ext cx="1920240" cy="2926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1424" y="29260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+ TITLE-ONLY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Combined penetration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across all 12 companies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73552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interviews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any AI signal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987552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0515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with any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AI-signal scorecard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377440"/>
            <a:ext cx="863193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77440"/>
            <a:ext cx="54864" cy="15727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50592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 — FULL PICTURE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670048"/>
            <a:ext cx="84307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Across all 12 companies with any AI signal: 208 interviews touch an AI-related dimension (125 strong + 83 title-only), representing 0.7% of 28,523 combined interviews. 6 companies explicitly measure AI fluency in their rubrics (strong signal); 6 more are hiring into AI roles but haven't yet built AI-fluency rating dimensions (title-only). Together they represent the addressable market for a structured AI Fluency scorecard product.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" y="453542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26,065 rows · Interviews_Custom_scorecard_Used_2026_03_09.csv · Sep 2025 – Feb 2026 · 125 strong + 83 title-only = 208 total · 15,235 + 13,288 = 28,523 total interviews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We Detected AI-Fluency Signals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4114800" cy="256032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3385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SIGNAL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26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companies · 8 scorecard templates · 125 AI-evaluated interviews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719072"/>
            <a:ext cx="3657600" cy="2743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792224"/>
            <a:ext cx="3858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individual rating field title itself contains an AI keyword.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Example: a scorecard section for "Technical Skills" contains a field titled "AI Fluency" or "GenAI Readiness".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means an interviewer is directly rating the candidate on an AI dimension — not just interviewing for an AI role.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73168" y="1005840"/>
            <a:ext cx="4114800" cy="2560320"/>
          </a:xfrm>
          <a:prstGeom prst="rect">
            <a:avLst/>
          </a:prstGeom>
          <a:solidFill>
            <a:srgbClr val="EEEEEE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01184" y="113385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TITLE-ONLY SIGNAL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01184" y="142646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companies · 7 scorecard templates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01184" y="1719072"/>
            <a:ext cx="3657600" cy="27432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792224"/>
            <a:ext cx="3858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scorecard title includes an AI keyword, but the individual rating fields are generic (e.g., "Communication", "Problem Solving").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Example: scorecard named "Applied AI Engineer Scorecard" but fields don't explicitly rate AI skills.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indicates AI-role hiring, not yet AI-fluency evaluation — weaker signal, excluded from primary count.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749040"/>
            <a:ext cx="8631936" cy="82296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822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4005072"/>
            <a:ext cx="8375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of analysis: scorecard_title (the template name). Note: scorecard_id in the data is an interviewer ID, not a template ID — the same interviewer uses many templates and the same template is used by many interviewers. AI keyword regex applied to section_field_title across 26,065 rows. Strong signal = at least one field title explicitly names an AI competency. Title-only = scorecard title contains AI keyword but no AI field titles exist.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Explicitly Measuring AI Fluency  ·  Strong Signal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56032"/>
            <a:ext cx="1737360" cy="29260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4304" y="2926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20" kern="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SIGNAL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058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71216" y="100584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AI-Rated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0" y="100584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0" y="1005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45936" y="10058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Rating Dimension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44475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Avalara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71216" y="14447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44475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34.8%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936" y="1444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GenAI skills assessment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764792"/>
            <a:ext cx="8631936" cy="420624"/>
          </a:xfrm>
          <a:prstGeom prst="rect">
            <a:avLst/>
          </a:prstGeom>
          <a:solidFill>
            <a:srgbClr val="F2FDF6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8745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Paxos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71216" y="18745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18745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874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5936" y="18745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194560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3042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 Technologies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71216" y="230428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3042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3,186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304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5936" y="23042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Exposure to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45936" y="2468880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5) Generative AI Readiness (GAIR)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56032" y="2624328"/>
            <a:ext cx="8631936" cy="420624"/>
          </a:xfrm>
          <a:prstGeom prst="rect">
            <a:avLst/>
          </a:prstGeom>
          <a:solidFill>
            <a:srgbClr val="F2FDF6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27340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71216" y="2734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273405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4,314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45936" y="2734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tools usage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3054096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Adobe Inc.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71216" y="31638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316382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6,176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352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45936" y="31638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the candidate demonstrate inquisitivenes…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45936" y="3328416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Judgment and clarity in how LLMs are used, when to…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56032" y="3483864"/>
            <a:ext cx="8631936" cy="420624"/>
          </a:xfrm>
          <a:prstGeom prst="rect">
            <a:avLst/>
          </a:prstGeom>
          <a:solidFill>
            <a:srgbClr val="F2FDF6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5935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McKinsey &amp; Company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871216" y="35935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0" y="359359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1,234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03520" y="3593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45936" y="35935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of GenAI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" y="3913632"/>
            <a:ext cx="8631936" cy="274320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" y="39502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/ BLENDED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71216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114800" y="395020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15,235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0352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45936" y="39502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companies · 8 templates · 99.2% of interviews still untapped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6032" y="4261104"/>
            <a:ext cx="8631936" cy="658368"/>
          </a:xfrm>
          <a:prstGeom prst="rect">
            <a:avLst/>
          </a:prstGeom>
          <a:solidFill>
            <a:srgbClr val="EDF9F3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6032" y="4261104"/>
            <a:ext cx="54864" cy="6583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4315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STANDOUT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84048" y="4498848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Avalara at 34.8% is 43× the cohort blended average — proving large-scale AI-fluency evaluation is operationally feasible. Large enterprises (Adobe 6,176 interviews, ServiceNow 4,314) are under 1%, representing the largest untapped opportunity.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Hiring for AI Roles  ·  Title-Only Signal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56032"/>
            <a:ext cx="1737360" cy="292608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4304" y="2926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TITLE-ONLY SIGNAL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31936" cy="347472"/>
          </a:xfrm>
          <a:prstGeom prst="rect">
            <a:avLst/>
          </a:prstGeom>
          <a:solidFill>
            <a:srgbClr val="39424E"/>
          </a:solidFill>
          <a:ln w="12700">
            <a:solidFill>
              <a:srgbClr val="394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0058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71216" y="1005840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Intrvws 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Scorecard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114800" y="100584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03520" y="1005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Penetration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45936" y="100584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Scorecard Template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44475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Intact Financial Corporation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71216" y="14447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44475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22.2%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936" y="1444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AI Dev Scorecard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764792"/>
            <a:ext cx="8631936" cy="420624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874520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Balyasny Asset Management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71216" y="18745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18745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1,605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1874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5936" y="18745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Solutions Engineer – AI Enablement Team | 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194560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3042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Expedia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71216" y="230428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3042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3,861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3042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5936" y="230428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MLS (GenAI)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624328"/>
            <a:ext cx="8631936" cy="420624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273405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ServiceTitan Inc.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71216" y="273405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273405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1,391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45936" y="27340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ML Engineer (Generative AI) Scorecard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054096"/>
            <a:ext cx="8631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1638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71216" y="316382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0" y="316382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3163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45936" y="316382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Applied AI Engineer Scorecard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3483864"/>
            <a:ext cx="8631936" cy="420624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" y="35935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Walmart Global Tech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71216" y="359359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0" y="3593592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5,382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0" y="35935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5936" y="35935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CV/AI/ML_Pipeline_Engineer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3913632"/>
            <a:ext cx="8631936" cy="274320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" y="39502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871216" y="39502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14800" y="395020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13,288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0352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45936" y="395020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companies · 7 templates · rating fields are generic, not AI-fluency rated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6032" y="4261104"/>
            <a:ext cx="8631936" cy="658368"/>
          </a:xfrm>
          <a:prstGeom prst="rect">
            <a:avLst/>
          </a:prstGeom>
          <a:solidFill>
            <a:srgbClr val="F4F4F3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" y="4261104"/>
            <a:ext cx="54864" cy="65836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3159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CONVERSION OPPORTUNITY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84048" y="4498848"/>
            <a:ext cx="8430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6 companies already built AI-role scorecard structures — they're one step from AI-fluency evaluation. Intact Financial at 22.2% penetration on AI-role scorecards shows strong AI-hiring intent. A pre-built AI Fluency module converts their existing template investment into a validated, benchmarkable rubric.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Companies with AI Signal  ·  Combined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77824"/>
            <a:ext cx="8631936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9611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8992" y="8961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64992" y="8961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Intrvws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15968" y="8961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66944" y="896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08192" y="89611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Signal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8631936" cy="265176"/>
          </a:xfrm>
          <a:prstGeom prst="rect">
            <a:avLst/>
          </a:prstGeom>
          <a:solidFill>
            <a:srgbClr val="F0FDF5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23444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234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78992" y="124358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Avalara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64992" y="12435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78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15968" y="12435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66944" y="12435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34.8%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08192" y="124358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GenAI skills assessment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463040"/>
            <a:ext cx="8631936" cy="265176"/>
          </a:xfrm>
          <a:prstGeom prst="rect">
            <a:avLst/>
          </a:prstGeom>
          <a:solidFill>
            <a:srgbClr val="E8FBF0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150876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508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78992" y="151790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Paxos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64992" y="15179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315968" y="15179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66944" y="15179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08192" y="151790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Collaboration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1737360"/>
            <a:ext cx="8631936" cy="265176"/>
          </a:xfrm>
          <a:prstGeom prst="rect">
            <a:avLst/>
          </a:prstGeom>
          <a:solidFill>
            <a:srgbClr val="F0FDF5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178308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17830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078992" y="179222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 Technologies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64992" y="17922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315968" y="17922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3,186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66944" y="17922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08192" y="179222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Exposure to AI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032" y="2011680"/>
            <a:ext cx="8631936" cy="265176"/>
          </a:xfrm>
          <a:prstGeom prst="rect">
            <a:avLst/>
          </a:prstGeom>
          <a:solidFill>
            <a:srgbClr val="E8FBF0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" y="205740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20574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078992" y="206654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ServiceNow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64992" y="20665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15968" y="20665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4,314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266944" y="20665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0.4%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08192" y="206654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tools usage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56032" y="2286000"/>
            <a:ext cx="8631936" cy="265176"/>
          </a:xfrm>
          <a:prstGeom prst="rect">
            <a:avLst/>
          </a:prstGeom>
          <a:solidFill>
            <a:srgbClr val="F0FDF5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2608" y="233172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3317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078992" y="234086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Adobe Inc.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64992" y="23408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315968" y="23408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6,176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66944" y="23408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108192" y="234086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the candidate demonstrate inquisitiveness…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2560320"/>
            <a:ext cx="8631936" cy="265176"/>
          </a:xfrm>
          <a:prstGeom prst="rect">
            <a:avLst/>
          </a:prstGeom>
          <a:solidFill>
            <a:srgbClr val="E8FBF0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" y="2606040"/>
            <a:ext cx="640080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2606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078992" y="261518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McKinsey &amp; Company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364992" y="26151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315968" y="26151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1,234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266944" y="2615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108192" y="261518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of GenAI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2834640"/>
            <a:ext cx="863193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2608" y="288036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2608" y="2880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78992" y="288950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Intact Financial Corporation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364992" y="28895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315968" y="28895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266944" y="28895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22.2%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08192" y="288950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AI Dev Scorecard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56032" y="3108960"/>
            <a:ext cx="8631936" cy="265176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2608" y="315468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2608" y="31546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1078992" y="316382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Balyasny Asset Management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364992" y="31638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315968" y="31638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1,605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266944" y="31638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CB2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2.0%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108192" y="316382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Solutions Engineer – AI Enablement Team | A…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56032" y="3383280"/>
            <a:ext cx="863193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2608" y="342900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92608" y="34290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1078992" y="343814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Expedia Group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3364992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315968" y="343814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3,861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266944" y="34381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108192" y="343814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MLS (GenAI)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56032" y="3657600"/>
            <a:ext cx="8631936" cy="265176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2608" y="370332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608" y="37033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1078992" y="371246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ServiceTitan Inc.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3364992" y="37124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315968" y="37124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1,391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5266944" y="371246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0.5%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108192" y="371246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Senior ML Engineer (Generative AI) Scorecard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6032" y="3931920"/>
            <a:ext cx="863193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92608" y="397764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92608" y="39776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1078992" y="398678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Bolt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364992" y="39867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4315968" y="39867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977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266944" y="39867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0.2%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108192" y="398678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Applied AI Engineer Scorecard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4206240"/>
            <a:ext cx="8631936" cy="265176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608" y="4251960"/>
            <a:ext cx="640080" cy="164592"/>
          </a:xfrm>
          <a:prstGeom prst="rect">
            <a:avLst/>
          </a:prstGeom>
          <a:solidFill>
            <a:srgbClr val="E0E0E2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92608" y="42519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1078992" y="426110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Walmart Global Tech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3364992" y="42611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4315968" y="42611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5,382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5266944" y="426110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0.1%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108192" y="426110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CV/AI/ML_Pipeline_Engineer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256032" y="2825496"/>
            <a:ext cx="8631936" cy="27432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6032" y="455371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= scorecard field title explicitly names an AI competency.  Title-only = scorecard name includes AI keyword but individual rating fields are generic.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Exact Field Titles Interviewers Are Rating Candidates 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05840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Avalara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353312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GenAI skills assessment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05840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Paxos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0" y="1353312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Collaboration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61888" y="1005840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1888" y="1005840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0972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53328" y="1353312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Exposure to AI</a:t>
            </a:r>
            <a:endParaRPr lang="en-US" sz="7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5) Generative AI Readiness (GAIR)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2532888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532888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24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ServiceNow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880360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tools usage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08960" y="2532888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08960" y="2532888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624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Adobe Inc.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0" y="2880360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the candidate demonstrate inquisitiveness to latest tre…</a:t>
            </a:r>
            <a:endParaRPr lang="en-US" sz="7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Judgment and clarity in how LLMs are used, when to use them,…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61888" y="2532888"/>
            <a:ext cx="2724912" cy="1417320"/>
          </a:xfrm>
          <a:prstGeom prst="rect">
            <a:avLst/>
          </a:prstGeom>
          <a:solidFill>
            <a:srgbClr val="F4F4F3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1888" y="2532888"/>
            <a:ext cx="2724912" cy="5486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6243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McKinsey &amp; Company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53328" y="2880360"/>
            <a:ext cx="2542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7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of GenAI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Opportunity Map — AI Fluency × AI Assistant Overlap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7899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ALREADY MEASURING AI FLUENCY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companies — confirmed strong signal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Avalara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Paxos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Dell Technologies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Adobe Inc.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128016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McKinsey &amp; Company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224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107899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CROSS-REFERENCE: AI ASSISTANT USERS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91456" y="131673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in the AI Fluency cohort that also use HackerRank AI Assistant: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91456" y="1682496"/>
            <a:ext cx="3968496" cy="1371600"/>
          </a:xfrm>
          <a:prstGeom prst="rect">
            <a:avLst/>
          </a:prstGeom>
          <a:solidFill>
            <a:srgbClr val="F4F4F3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792224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⟳  Pending cross-reference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82896" y="2103120"/>
            <a:ext cx="3785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 the 9 companies against AI Assistant usage data (ai-assistant-companies.csv) to identify overlap.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High-overlap companies = strongest candidates for AI Fluency product outreach.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91456" y="3145536"/>
            <a:ext cx="3968496" cy="914400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2369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9472" y="345643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Companies using both AI Assistant AND building custom AI-fluency rubrics are already our most engaged AI customers. They are the natural first buyers of a structured AI Fluency product.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19456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32688"/>
            <a:ext cx="4297680" cy="1572768"/>
          </a:xfrm>
          <a:prstGeom prst="rect">
            <a:avLst/>
          </a:prstGeom>
          <a:solidFill>
            <a:srgbClr val="1A2A3A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60704"/>
            <a:ext cx="420624" cy="34747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6070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0789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Cross-reference with AI Assistant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499616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 the 9 companies against AI Assistant usage data. Companies using both AI Assistant AND custom AI-fluency rubrics are priority-1 for product outreach.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28032" y="932688"/>
            <a:ext cx="4297680" cy="1572768"/>
          </a:xfrm>
          <a:prstGeom prst="rect">
            <a:avLst/>
          </a:prstGeom>
          <a:solidFill>
            <a:srgbClr val="1A2A3A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060704"/>
            <a:ext cx="420624" cy="34747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06070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68112" y="10789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Conduct 3 customer interviews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56048" y="1499616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conversations: (1) Vanguard &amp; Avalara — already at 35–87% penetration, ask what drove scale-up. (2) Adobe &amp; Walmart — at 1–2%, ask what's blocking broader rollout.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743200"/>
            <a:ext cx="4297680" cy="1572768"/>
          </a:xfrm>
          <a:prstGeom prst="rect">
            <a:avLst/>
          </a:prstGeom>
          <a:solidFill>
            <a:srgbClr val="1A2A3A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871216"/>
            <a:ext cx="420624" cy="34747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712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288950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 the product extension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310128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a structured AI Fluency scorecard module — pre-built dimensions (AI tool usage, prompt quality, GenAI literacy) replacing 9 companies' DIY rubrics with a validated, benchmarkable standard.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8032" y="2743200"/>
            <a:ext cx="4297680" cy="1572768"/>
          </a:xfrm>
          <a:prstGeom prst="rect">
            <a:avLst/>
          </a:prstGeom>
          <a:solidFill>
            <a:srgbClr val="1A2A3A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2871216"/>
            <a:ext cx="420624" cy="34747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871216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288950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F9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penetration rate monthly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6048" y="3310128"/>
            <a:ext cx="4041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C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Blended penetration is 0.8% today. Re-run monthly. If blended penetration crosses 5%, or Avalara-style adoption (&gt;30%) appears at a second large company, escalate as Q3 priority signal.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HackerRank NextGen · Q2 2026</dc:creator>
  <cp:lastModifiedBy>HackerRank NextGen · Q2 2026</cp:lastModifiedBy>
  <cp:revision>1</cp:revision>
  <dcterms:created xsi:type="dcterms:W3CDTF">2026-03-09T17:30:23Z</dcterms:created>
  <dcterms:modified xsi:type="dcterms:W3CDTF">2026-03-09T17:30:23Z</dcterms:modified>
</cp:coreProperties>
</file>