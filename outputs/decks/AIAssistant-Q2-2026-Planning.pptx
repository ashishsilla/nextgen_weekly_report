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hart_timeline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HACKERRANK · NEXTGEN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4173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Assistant Usage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Planning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47472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&amp; Interviews  |  Sep 2025 – Feb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NextGen Q1 2026  ·  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4773168"/>
            <a:ext cx="8631936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931920"/>
        </p:xfrm>
        <a:graphic>
          <a:graphicData uri="http://schemas.openxmlformats.org/drawingml/2006/table">
            <a:tbl>
              <a:tblPr/>
              <a:tblGrid>
                <a:gridCol w="502920"/>
                <a:gridCol w="2743200"/>
                <a:gridCol w="53858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#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Section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 you'll see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01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Usage Overview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 vs. Interviews — adoption, volume, messages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02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Question Type: Screen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Code, Database, Fullstack, CodeRepo Task breakdown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03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Question Type: Interviews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Fullstack, CodeRepo, Untagged breakdown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04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Top Customers — Screen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Top 15 companies by AI-used attempts + adoption 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05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Top Customers — Interviews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Top 15 companies by AI-used interviews + adoption 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06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Ratings &amp; Feedback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 vs Interviews — AI-focused themes side by side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  ·  AI Assistant  ·  Sep 2025 – Feb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08576" y="914400"/>
            <a:ext cx="27432" cy="402336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5,058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" y="18379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Attempts with AI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23444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04872" y="18379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Using 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441448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25054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" y="304495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76 attempts  ·  13 sandbox accounts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2441448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23160" y="25054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04872" y="304495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attempts  ·  10 testing accounts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694176"/>
            <a:ext cx="42245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3730752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question type: fullstack  ·  330 tests enabled  ·  Real active accounts: 75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865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28032" y="18379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 with 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30568" y="123444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22008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183794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Using AI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441448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5054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28032" y="304495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156 interviews  ·  14 sandbox accounts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30568" y="2441448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22008" y="25054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03720" y="304495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interviews  ·  16 testing accounts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694176"/>
            <a:ext cx="41330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5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730752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question type: fullstack  ·  Candidate avg: 3.91/5  ·  Interviewer avg: 3.42/5  ·  Real active accounts: 33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Usage Overview  ·  Screen vs. Interviews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08576" y="914400"/>
            <a:ext cx="27432" cy="402336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42245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371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Attempts with 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3350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5,058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1975104"/>
            <a:ext cx="42245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066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Companies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0299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" y="2670048"/>
            <a:ext cx="42245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7614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7249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330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" y="3364992"/>
            <a:ext cx="42245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4564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AI Messages Sent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4198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1,033,969*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13308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82896" y="1371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Interviews with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3350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865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1975104"/>
            <a:ext cx="413308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82896" y="2066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Companies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0299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2670048"/>
            <a:ext cx="413308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82896" y="27614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AI Messages Sent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7249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464,497*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54880" y="3401568"/>
            <a:ext cx="4133088" cy="1389888"/>
          </a:xfrm>
          <a:prstGeom prst="rect">
            <a:avLst/>
          </a:prstGeom>
          <a:solidFill>
            <a:srgbClr val="E8F8FF"/>
          </a:solidFill>
          <a:ln w="12700">
            <a:solidFill>
              <a:srgbClr val="335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01568"/>
            <a:ext cx="54864" cy="138988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447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82896" y="3657600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leads AI adoption by 5.8×. Screen: 5,058 attempts across 98 companies. Interviews: 865 sessions across 63 companies.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" y="486460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* Total messages capped at 5,000 per row to exclude known data outliers.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 Type Breakdown  ·  Screen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011680"/>
                <a:gridCol w="20482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Question Type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Unique Attempts (%)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AI Msgs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Avg Msgs / Attempt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fullstack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3,512  (69%)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906,682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258.2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1,048  (21%)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5,575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5.3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database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613  (12%)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3,746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6.1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coderepo_task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502  (10%)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117,946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235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approx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  (0%)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388620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Attempts Share by Question Type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" y="4197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fullstack (69%)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48840" y="4215384"/>
            <a:ext cx="5029200" cy="20116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4197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3,512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(21%)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48840" y="4562856"/>
            <a:ext cx="1500741" cy="20116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95301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1,048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 (12%)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48840" y="4910328"/>
            <a:ext cx="877819" cy="201168"/>
          </a:xfrm>
          <a:prstGeom prst="rect">
            <a:avLst/>
          </a:prstGeom>
          <a:solidFill>
            <a:srgbClr val="66CC99"/>
          </a:solidFill>
          <a:ln w="12700">
            <a:solidFill>
              <a:srgbClr val="66CC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72379" y="4892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613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032" y="5239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coderepo_task (10%)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148840" y="5257800"/>
            <a:ext cx="718866" cy="2011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13426" y="5239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56032" y="5586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approx (0%)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148840" y="5605272"/>
            <a:ext cx="5728" cy="20116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00288" y="5586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217920" y="4123944"/>
            <a:ext cx="26700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17920" y="4123944"/>
            <a:ext cx="54864" cy="82296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41970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DOMINANT: FULLSTACK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45936" y="4416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3,512 attempts · 69% of all AI-used screen attempts · avg 258.2 msgs/attempt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 Type Breakdown  ·  Interviews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011680"/>
                <a:gridCol w="20482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Question Type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Unique Interviews (%)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AI Msgs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Avg Msgs / Interview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fullstack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393  (45%)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376,412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957.8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coderepo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307  (35%)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87,160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283.9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Untagged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173  (20%)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925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5.3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297180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 Share by Question Type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6032" y="3282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fullstack (45%)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48840" y="3300984"/>
            <a:ext cx="5029200" cy="20116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3282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3630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coderepo (35%)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48840" y="3648456"/>
            <a:ext cx="3928663" cy="20116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3223" y="3630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Untagged (20%)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48840" y="3995928"/>
            <a:ext cx="2213872" cy="201168"/>
          </a:xfrm>
          <a:prstGeom prst="rect">
            <a:avLst/>
          </a:prstGeom>
          <a:solidFill>
            <a:srgbClr val="66CC99"/>
          </a:solidFill>
          <a:ln w="12700">
            <a:solidFill>
              <a:srgbClr val="66CC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8432" y="3977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7920" y="3209544"/>
            <a:ext cx="267004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3209544"/>
            <a:ext cx="54864" cy="82296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32826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DOMINANT: FULLSTACK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45936" y="3502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393 interviews · 45% of all AI-used interviews · avg 957.8 msgs/interview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6032" y="486460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"Untagged" = interviews where question_type field is blank in source data.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Customers  ·  Screen AI Usage  (Top 15 by AI-Used Attempts)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383280"/>
                <a:gridCol w="1554480"/>
                <a:gridCol w="1554480"/>
                <a:gridCol w="168249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 with AI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Attempts*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Adoption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Amazon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1,348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1,527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9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Walmart Global Tech Talent Acquisition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676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871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Nedbank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628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2,053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26%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NPCI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328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54%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MercadoLibre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241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296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Zycus Inc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Accenture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195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Cognizant Technology Solutions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3,324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Thoughtworks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446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21%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New York Life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Optmyzr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89%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Verdi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86%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HCLTech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818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Garner Health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MoneyLion Inc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484632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* Total attempts = all attempts on the same tests after the date AI assistant was first used on that test. Top 3 rows highlighted in green. "—" = company not in adoption file.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Customers  ·  Interview AI Usage  (Top 15 by AI-Used Interviews)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383280"/>
                <a:gridCol w="1554480"/>
                <a:gridCol w="1554480"/>
                <a:gridCol w="168249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Rank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Interviews with AI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 Interviews*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Adoption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Uber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22,061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Adobe Inc.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3,198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Atlassian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 (anomaly)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Paxos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Oracle Corporation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23,658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DraftKings Inc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1,118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Indeed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39%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Blue Origin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Wayfair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1,968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Affirm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1,984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Palo Alto Networks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379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Zycus Inc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43%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Snap Inc.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4,676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Affirm Sandbox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19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 (anomaly)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BNY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282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484632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* Total interviews = all interviews from the same company after the date AI assistant was first used by that company. Top 3 rows highlighted in blue.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Ratings &amp; Feedback  ·  AI Assistant  (Screen vs Interviews)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08576" y="914400"/>
            <a:ext cx="27432" cy="4041648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422452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88720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4.10/5  ·  2404 responses  ·  64 mention AI keywords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3308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3.82/5  ·  98 responses  ·  Cand. 3.91/5 vs Intvwr. 3.42/5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1426464"/>
            <a:ext cx="20756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426464"/>
            <a:ext cx="54864" cy="111556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48132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Helpfulness &amp; Suggestions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170078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responses · avg 4.2★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1865376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hints guided candidates through problems without giving away answers — genuinely useful in practice.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426464"/>
            <a:ext cx="2029968" cy="1115568"/>
          </a:xfrm>
          <a:prstGeom prst="rect">
            <a:avLst/>
          </a:prstGeom>
          <a:solidFill>
            <a:srgbClr val="EEEEEE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653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04872" y="1426464"/>
            <a:ext cx="20756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04872" y="1426464"/>
            <a:ext cx="54864" cy="111556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48132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Poor Quality / Inaccurate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96312" y="170078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responses · avg 1.3★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96312" y="1865376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responses were wrong, off-topic, or unhelpful — eroded candidate trust in the tool.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0" y="1426464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426464"/>
            <a:ext cx="54864" cy="111556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4813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Poor Quality / Inaccurate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170078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responses · avg 1.0★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0" y="1865376"/>
            <a:ext cx="1883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responses were wrong, off-topic, or unhelpful — eroded candidate trust in the tool.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2615184"/>
            <a:ext cx="20756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615184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67004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UX / Interface Issues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288950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responses · avg 3.7★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472" y="3054096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autocomplete was intrusive or hard to dismiss — the interface made it difficult to ignore suggestions.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615184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615184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670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UX / Interface Issues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288950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responses · avg 3.0★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3054096"/>
            <a:ext cx="1883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autocomplete was intrusive or hard to dismiss — the interface made it difficult to ignore suggestions.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04872" y="2615184"/>
            <a:ext cx="20756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04872" y="2615184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96312" y="267004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/ Reliability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496312" y="288950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responses · avg 2.8★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496312" y="3054096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tool caused slowdowns, freezes, or disconnections that disrupted the candidate experience.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58000" y="2615184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58000" y="2615184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2670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/ Reliability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49440" y="288950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responses · avg 2.0★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49440" y="3054096"/>
            <a:ext cx="1883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tool caused slowdowns, freezes, or disconnections that disrupted the candidate experience.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3803904"/>
            <a:ext cx="20756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56032" y="3803904"/>
            <a:ext cx="54864" cy="111556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385876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/ Limited Features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47472" y="407822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responses · avg 2.7★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47472" y="4242816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Candidates wanted more model options, context-aware hints, or features the current AI does not offer.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3803904"/>
            <a:ext cx="20299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803904"/>
            <a:ext cx="54864" cy="111556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8587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/ Limited Features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46320" y="4078224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responses · avg 4.0★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46320" y="4242816"/>
            <a:ext cx="1883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Candidates wanted more model options, context-aware hints, or features the current AI does not offer.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Are Interview Ratings Lower When AI Is Used?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86868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0936" y="914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4.10 / 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" y="1271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 — Screens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87752" y="86868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9192" y="914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3.82 / 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79192" y="1271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 — Interviews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36008" y="86868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914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−0.28 pts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1271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Gap (interviews rated lower)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84264" y="86868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75704" y="914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21% vs 13%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75704" y="1271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Severe ratings (≤ 2★)  Interviews vs Screen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" y="1627632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understand why, we asked three questions: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920240"/>
            <a:ext cx="2688336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1920240"/>
            <a:ext cx="2688336" cy="29260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2359152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Are interviewers less satisfied than candidates?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" y="460857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Answered on the next slide →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08960" y="1920240"/>
            <a:ext cx="2688336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1920240"/>
            <a:ext cx="2688336" cy="29260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5264" y="2359152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users who rely heavily on AI rate it worse?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55264" y="460857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Answered on the next slide →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61888" y="1920240"/>
            <a:ext cx="2688336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61888" y="1920240"/>
            <a:ext cx="2688336" cy="29260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08192" y="2359152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are interviewers actually frustrated about?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08192" y="460857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Answered on the next slide →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Based on 98 interview feedback responses (79 candidates, 19 interviewers). Screen: 2,404 responses.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the Data Shows  ·  Three Answers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68680"/>
            <a:ext cx="45720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54864" cy="1719072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9784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answer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0624" y="1188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Interviewers are rating the experience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lower than candidates are.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" y="1801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" y="1984248"/>
            <a:ext cx="3383280" cy="14630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1984248"/>
            <a:ext cx="2645725" cy="14630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1213" y="19842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3.91 / 5  (n=79)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" y="2148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2331720"/>
            <a:ext cx="3383280" cy="14630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331720"/>
            <a:ext cx="2314164" cy="146304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9652" y="23317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3.42 / 5  (n=19)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10912" y="868680"/>
            <a:ext cx="3877056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10912" y="868680"/>
            <a:ext cx="54864" cy="1719072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978408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interviewers said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75504" y="118872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low-rating comments cite platform failures,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AI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75504" y="1581912"/>
            <a:ext cx="1773936" cy="237744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16184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21% interviews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49440" y="1581912"/>
            <a:ext cx="1773936" cy="23774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161848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13% screen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75504" y="1837944"/>
            <a:ext cx="3547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Severe (≤ 2★) — same bugs, higher stakes in live sessions.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175504" y="1984248"/>
            <a:ext cx="3547872" cy="256032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75504" y="1984248"/>
            <a:ext cx="36576" cy="256032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2020824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“The candidate struggled to accept diffs. Sometimes when accepting diffs, the file would end up in a …”  [1★]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75504" y="2258568"/>
            <a:ext cx="3547872" cy="256032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75504" y="2258568"/>
            <a:ext cx="36576" cy="256032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2295144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“laggy really bad”  [1★]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" y="2752344"/>
            <a:ext cx="2688336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2752344"/>
            <a:ext cx="2688336" cy="237744"/>
          </a:xfrm>
          <a:prstGeom prst="rect">
            <a:avLst/>
          </a:prstGeom>
          <a:solidFill>
            <a:srgbClr val="003333"/>
          </a:solidFill>
          <a:ln w="12700">
            <a:solidFill>
              <a:srgbClr val="00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77977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 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" y="304495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Are interviewers less satisfied than candidates?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502152"/>
            <a:ext cx="1463040" cy="219456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" y="377647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Yes — interviewers rate 0.49 pts lower than candidates.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" y="408736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3.42 / 5 (interviewers) vs 3.91 / 5 (candidates). Interviewers are ~20% of respondents but pull the overall interview average below Screen.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4544568"/>
            <a:ext cx="2505456" cy="274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456285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 driver of the gap.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08960" y="2752344"/>
            <a:ext cx="2688336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08960" y="2752344"/>
            <a:ext cx="2688336" cy="237744"/>
          </a:xfrm>
          <a:prstGeom prst="rect">
            <a:avLst/>
          </a:prstGeom>
          <a:solidFill>
            <a:srgbClr val="003333"/>
          </a:solidFill>
          <a:ln w="12700">
            <a:solidFill>
              <a:srgbClr val="00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277977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 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00400" y="304495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users who rely heavily on AI rate it worse?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3502152"/>
            <a:ext cx="1463040" cy="219456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INCONCLUSIVE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0400" y="377647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Direction is right, but sample too small to confirm.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0" y="408736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Interview: heavy users 3.55 / 5 (n=11) vs light 3.83 / 5 — drops with usage.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0" y="4544568"/>
            <a:ext cx="2505456" cy="274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55264" y="456285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Needs more data before acting.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61888" y="2752344"/>
            <a:ext cx="2688336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61888" y="2752344"/>
            <a:ext cx="2688336" cy="237744"/>
          </a:xfrm>
          <a:prstGeom prst="rect">
            <a:avLst/>
          </a:prstGeom>
          <a:solidFill>
            <a:srgbClr val="003333"/>
          </a:solidFill>
          <a:ln w="12700">
            <a:solidFill>
              <a:srgbClr val="00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53328" y="277977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 3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53328" y="304495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are interviewers actually frustrated about?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53328" y="3502152"/>
            <a:ext cx="1463040" cy="21945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53328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BUGS, HIGHER STAKES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53328" y="377647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Screen and Interview users complain about identical bugs — but interviews have 62% more severe ratings.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053328" y="408736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feedback mentions the same failures: freezing, lag, keyboard issues, crashes. Screen users recover privately and rate 4.10/5. In interviews, the same bug happens in front of an evaluator — the candidate can't recover gracefully, time is lost, and the evaluator sees the disruption. The live context turns a tolerable bug into a high-stakes failure.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053328" y="4544568"/>
            <a:ext cx="2505456" cy="274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08192" y="456285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Fix: reliability in live-session context is the priority — async Screen users self-recover.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032" y="491032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 based on 98 interview feedback responses (Q1 2026). Msg-count buckets: Low = 1–5 messages, Medium = 6–20, Heavy = 21+.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Test-Level AI Usage  ·  Data Available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371600"/>
                <a:gridCol w="1207008"/>
                <a:gridCol w="120700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Test Name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AI-Used 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 Share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Adoption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Amazon Coding Challenge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Amazon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786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78%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Walmart Early Careers SWE Intern Assessment - 2025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Walmart Global Tech Talent Acquisition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311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88%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Sample Test for Django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Amazon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220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Walmart Software Engineering Assessment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Walmart Global Tech Talent Acquisition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241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Challenge - Backend Developer AI - Seed (SH/CX/FIN)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MercadoLibre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190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78%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Java Full Stack Developer Test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Zycus Inc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122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87%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Nedbank SQE_Baseline Assessment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Nedbank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146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Walmart Software Engineering Assessment (VALIDATION SAMPLE)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Walmart Global Tech Talent Acquisition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93%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NPCI Advance Open Source (Coding - Java) - Basic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NPCI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127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55%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Sample Test for Spring Boot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Amazon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77%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Garner Intern and L1 Take Home Test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Garner Health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77%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Sample Test for Node.JS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Amazon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92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486460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Sorted by AI Share % × Adoption % (combo score). AI Share % = test's AI-used attempts ÷ all AI-used attempts across all tests. Adoption % = AI-used ÷ total attempts on that test (from first AI-use date).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STEPS &amp; PRIORITIES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Turning AI Assistant Data Into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444752"/>
            <a:ext cx="8631936" cy="78638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44752"/>
            <a:ext cx="402336" cy="78638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44752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499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 AI adoption depth — current rates leave room to grow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77393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adoption: 35% of eligible attempts. Interview adoption: 1%. Focus on high-volume tests with low adoption — improve discoverability and in-product AI nudges.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322576"/>
            <a:ext cx="8631936" cy="78638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322576"/>
            <a:ext cx="402336" cy="786384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322576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377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Address AI quality &amp; reliability concerns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6517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negative signals: AI freezing, unreliable responses, poor autocomplete UX. Screen avg: 4.10/5 · Interviews avg: 3.82/5. These directly suppress ratings.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200400"/>
            <a:ext cx="8631936" cy="78638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00400"/>
            <a:ext cx="402336" cy="786384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00400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32552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AI coverage to underserved question types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52958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dominant: fullstack (69% of AI attempts). Interviews dominant: fullstack (45%). Drive parity across all types.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4078224"/>
            <a:ext cx="8631936" cy="78638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4078224"/>
            <a:ext cx="402336" cy="78638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078224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41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4133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Investigate Uber interviews — low adoption despite high volume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40740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Uber: 22,061 total interviews vs 93 AI-used. Known issue being resolved — track as leading indicator for large-account AI adoption.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Owner: [TBD]  ·  Q2 2026  ·  HackerRank NextGen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Label"/>
          <p:cNvSpPr/>
          <p:nvPr/>
        </p:nvSpPr>
        <p:spPr>
          <a:xfrm>
            <a:off x="347472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5C770"/>
                </a:solidFill>
                <a:latin typeface="Manrope" pitchFamily="34" charset="0"/>
              </a:rPr>
              <a:t>FEEDBACK ISSUE TRENDS</a:t>
            </a:r>
          </a:p>
        </p:txBody>
      </p:sp>
      <p:sp>
        <p:nvSpPr>
          <p:cNvPr id="4" name="Title"/>
          <p:cNvSpPr/>
          <p:nvPr/>
        </p:nvSpPr>
        <p:spPr>
          <a:xfrm>
            <a:off x="347472" y="731520"/>
            <a:ext cx="77724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</a:rPr>
              <a:t>Issue Buckets — Week on Week</a:t>
            </a:r>
          </a:p>
        </p:txBody>
      </p:sp>
      <p:sp>
        <p:nvSpPr>
          <p:cNvPr id="5" name="Subtitle"/>
          <p:cNvSpPr/>
          <p:nvPr/>
        </p:nvSpPr>
        <p:spPr>
          <a:xfrm>
            <a:off x="347472" y="1380000"/>
            <a:ext cx="77724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8"/>
                </a:solidFill>
                <a:latin typeface="Manrope" pitchFamily="34" charset="0"/>
              </a:rPr>
              <a:t>% of feedback rows flagged  ·  Screen &amp; Interviews  ·  Sep 2025 – Feb 2026</a:t>
            </a:r>
          </a:p>
        </p:txBody>
      </p:sp>
      <p:sp>
        <p:nvSpPr>
          <p:cNvPr id="6" name="Card1Bg"/>
          <p:cNvSpPr/>
          <p:nvPr/>
        </p:nvSpPr>
        <p:spPr>
          <a:xfrm>
            <a:off x="347472" y="1900000"/>
            <a:ext cx="8631936" cy="640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Card1Acc"/>
          <p:cNvSpPr/>
          <p:nvPr/>
        </p:nvSpPr>
        <p:spPr>
          <a:xfrm>
            <a:off x="347472" y="1900000"/>
            <a:ext cx="402336" cy="6400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8" name="Card1Num"/>
          <p:cNvSpPr/>
          <p:nvPr/>
        </p:nvSpPr>
        <p:spPr>
          <a:xfrm>
            <a:off x="347472" y="1900000"/>
            <a:ext cx="402336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E"/>
                </a:solidFill>
                <a:latin typeface="Manrope" pitchFamily="34" charset="0"/>
              </a:rPr>
              <a:t>01</a:t>
            </a:r>
          </a:p>
        </p:txBody>
      </p:sp>
      <p:sp>
        <p:nvSpPr>
          <p:cNvPr id="9" name="Card1H"/>
          <p:cNvSpPr/>
          <p:nvPr/>
        </p:nvSpPr>
        <p:spPr>
          <a:xfrm>
            <a:off x="841248" y="1940000"/>
            <a:ext cx="8046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</a:rPr>
              <a:t>Weekly trend chart — % of feedback rows flagged per issue bucket</a:t>
            </a:r>
          </a:p>
        </p:txBody>
      </p:sp>
      <p:sp>
        <p:nvSpPr>
          <p:cNvPr id="10" name="Card1Sub"/>
          <p:cNvSpPr/>
          <p:nvPr/>
        </p:nvSpPr>
        <p:spPr>
          <a:xfrm>
            <a:off x="841248" y="2215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</a:rPr>
              <a:t>5 buckets: Content  ·  Performance  ·  AI Assistant  ·  UI/UX  ·  Core Functionality</a:t>
            </a:r>
          </a:p>
        </p:txBody>
      </p:sp>
      <p:sp>
        <p:nvSpPr>
          <p:cNvPr id="11" name="Card2Bg"/>
          <p:cNvSpPr/>
          <p:nvPr/>
        </p:nvSpPr>
        <p:spPr>
          <a:xfrm>
            <a:off x="347472" y="2680000"/>
            <a:ext cx="8631936" cy="640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2" name="Card2Acc"/>
          <p:cNvSpPr/>
          <p:nvPr/>
        </p:nvSpPr>
        <p:spPr>
          <a:xfrm>
            <a:off x="347472" y="2680000"/>
            <a:ext cx="402336" cy="640000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3" name="Card2Num"/>
          <p:cNvSpPr/>
          <p:nvPr/>
        </p:nvSpPr>
        <p:spPr>
          <a:xfrm>
            <a:off x="347472" y="2680000"/>
            <a:ext cx="402336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E"/>
                </a:solidFill>
                <a:latin typeface="Manrope" pitchFamily="34" charset="0"/>
              </a:rPr>
              <a:t>02</a:t>
            </a:r>
          </a:p>
        </p:txBody>
      </p:sp>
      <p:sp>
        <p:nvSpPr>
          <p:cNvPr id="14" name="Card2H"/>
          <p:cNvSpPr/>
          <p:nvPr/>
        </p:nvSpPr>
        <p:spPr>
          <a:xfrm>
            <a:off x="841248" y="2720000"/>
            <a:ext cx="8046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</a:rPr>
              <a:t>Key insights — what is rising, stable, and spiking</a:t>
            </a:r>
          </a:p>
        </p:txBody>
      </p:sp>
      <p:sp>
        <p:nvSpPr>
          <p:cNvPr id="15" name="Card2Sub"/>
          <p:cNvSpPr/>
          <p:nvPr/>
        </p:nvSpPr>
        <p:spPr>
          <a:xfrm>
            <a:off x="841248" y="2995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</a:rPr>
              <a:t>Dec W2 incident  ·  content quality trend  ·  UI/UX Feb spike  ·  AI Assistant emergence</a:t>
            </a:r>
          </a:p>
        </p:txBody>
      </p:sp>
      <p:sp>
        <p:nvSpPr>
          <p:cNvPr id="16" name="Footer"/>
          <p:cNvSpPr/>
          <p:nvPr/>
        </p:nvSpPr>
        <p:spPr>
          <a:xfrm>
            <a:off x="347472" y="489204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</a:rPr>
              <a:t>Source: Sheet16.csv  ·  2,502 rows  ·  Q1 2026  ·  HackerRank NextGen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56032" y="190000"/>
            <a:ext cx="8631936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</a:rPr>
              <a:t>Issue Bucket Trends by Week  ·  % of Feedback Rows Flagged</a:t>
            </a:r>
            <a:r>
              <a:rPr lang="en-US" sz="1000" dirty="0">
                <a:solidFill>
                  <a:srgbClr val="A0A0A8"/>
                </a:solidFill>
                <a:latin typeface="Manrope" pitchFamily="34" charset="0"/>
              </a:rPr>
              <a:t xml:space="preserve">  ·  Screen (top) &amp; Interview (bottom)</a:t>
            </a:r>
          </a:p>
        </p:txBody>
      </p:sp>
      <p:pic>
        <p:nvPicPr>
          <p:cNvPr id="4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30000"/>
            <a:ext cx="8979408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Label"/>
          <p:cNvSpPr/>
          <p:nvPr/>
        </p:nvSpPr>
        <p:spPr>
          <a:xfrm>
            <a:off x="347472" y="220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5C770"/>
                </a:solidFill>
                <a:latin typeface="Manrope" pitchFamily="34" charset="0"/>
              </a:rPr>
              <a:t>FEEDBACK ISSUE TRENDS  ·  KEY INSIGHTS</a:t>
            </a:r>
          </a:p>
        </p:txBody>
      </p:sp>
      <p:sp>
        <p:nvSpPr>
          <p:cNvPr id="4" name="Title"/>
          <p:cNvSpPr/>
          <p:nvPr/>
        </p:nvSpPr>
        <p:spPr>
          <a:xfrm>
            <a:off x="347472" y="480000"/>
            <a:ext cx="82296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</a:rPr>
              <a:t>What the Trend Data Shows  ·  Sep 2025 – Feb 2026</a:t>
            </a:r>
          </a:p>
        </p:txBody>
      </p:sp>
      <p:sp>
        <p:nvSpPr>
          <p:cNvPr id="5" name="C1Bg"/>
          <p:cNvSpPr/>
          <p:nvPr/>
        </p:nvSpPr>
        <p:spPr>
          <a:xfrm>
            <a:off x="347472" y="920000"/>
            <a:ext cx="8631936" cy="840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C1Acc"/>
          <p:cNvSpPr/>
          <p:nvPr/>
        </p:nvSpPr>
        <p:spPr>
          <a:xfrm>
            <a:off x="347472" y="920000"/>
            <a:ext cx="402336" cy="8400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C1Tag"/>
          <p:cNvSpPr/>
          <p:nvPr/>
        </p:nvSpPr>
        <p:spPr>
          <a:xfrm>
            <a:off x="347472" y="920000"/>
            <a:ext cx="402336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</a:rPr>
              <a:t>CONTENT</a:t>
            </a:r>
          </a:p>
        </p:txBody>
      </p:sp>
      <p:sp>
        <p:nvSpPr>
          <p:cNvPr id="8" name="C1H"/>
          <p:cNvSpPr/>
          <p:nvPr/>
        </p:nvSpPr>
        <p:spPr>
          <a:xfrm>
            <a:off x="841248" y="95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</a:rPr>
              <a:t>Content quality — sustained #1 concern, ~21% avg last 4 weeks, not recovering</a:t>
            </a:r>
          </a:p>
        </p:txBody>
      </p:sp>
      <p:sp>
        <p:nvSpPr>
          <p:cNvPr id="9" name="C1B"/>
          <p:cNvSpPr/>
          <p:nvPr/>
        </p:nvSpPr>
        <p:spPr>
          <a:xfrm>
            <a:off x="841248" y="1250000"/>
            <a:ext cx="80467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</a:rPr>
              <a:t>Peaked 42% in Jan W3 and 38% in Feb W3 ’26. Elevated since Dec W2 incident. Top bucket in 3 of last 5 weeks — not improving.</a:t>
            </a:r>
          </a:p>
        </p:txBody>
      </p:sp>
      <p:sp>
        <p:nvSpPr>
          <p:cNvPr id="10" name="C2Bg"/>
          <p:cNvSpPr/>
          <p:nvPr/>
        </p:nvSpPr>
        <p:spPr>
          <a:xfrm>
            <a:off x="347472" y="1820000"/>
            <a:ext cx="8631936" cy="840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1" name="C2Acc"/>
          <p:cNvSpPr/>
          <p:nvPr/>
        </p:nvSpPr>
        <p:spPr>
          <a:xfrm>
            <a:off x="347472" y="1820000"/>
            <a:ext cx="402336" cy="840000"/>
          </a:xfrm>
          <a:prstGeom prst="rect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2" name="C2Tag"/>
          <p:cNvSpPr/>
          <p:nvPr/>
        </p:nvSpPr>
        <p:spPr>
          <a:xfrm>
            <a:off x="347472" y="1820000"/>
            <a:ext cx="402336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</a:rPr>
              <a:t>PERF</a:t>
            </a:r>
          </a:p>
        </p:txBody>
      </p:sp>
      <p:sp>
        <p:nvSpPr>
          <p:cNvPr id="13" name="C2H"/>
          <p:cNvSpPr/>
          <p:nvPr/>
        </p:nvSpPr>
        <p:spPr>
          <a:xfrm>
            <a:off x="841248" y="185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</a:rPr>
              <a:t>Dec W2 ’25 spike (40%) resolved — now a stable floor at ~12%, not improving</a:t>
            </a:r>
          </a:p>
        </p:txBody>
      </p:sp>
      <p:sp>
        <p:nvSpPr>
          <p:cNvPr id="14" name="C2B"/>
          <p:cNvSpPr/>
          <p:nvPr/>
        </p:nvSpPr>
        <p:spPr>
          <a:xfrm>
            <a:off x="841248" y="2150000"/>
            <a:ext cx="80467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</a:rPr>
              <a:t>Platform incident (Dec 8–14 ’25). Same complaints in Screen and Interview — interviews feel it harder due to live-session stakes. 62% more severe ratings in interviews vs screen.</a:t>
            </a:r>
          </a:p>
        </p:txBody>
      </p:sp>
      <p:sp>
        <p:nvSpPr>
          <p:cNvPr id="15" name="C3Bg"/>
          <p:cNvSpPr/>
          <p:nvPr/>
        </p:nvSpPr>
        <p:spPr>
          <a:xfrm>
            <a:off x="347472" y="2720000"/>
            <a:ext cx="8631936" cy="840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E63CE"/>
            </a:solidFill>
            <a:prstDash val="solid"/>
          </a:ln>
        </p:spPr>
      </p:sp>
      <p:sp>
        <p:nvSpPr>
          <p:cNvPr id="16" name="C3Acc"/>
          <p:cNvSpPr/>
          <p:nvPr/>
        </p:nvSpPr>
        <p:spPr>
          <a:xfrm>
            <a:off x="347472" y="2720000"/>
            <a:ext cx="402336" cy="840000"/>
          </a:xfrm>
          <a:prstGeom prst="rect">
            <a:avLst/>
          </a:prstGeom>
          <a:solidFill>
            <a:srgbClr val="8E63CE"/>
          </a:solidFill>
          <a:ln w="12700">
            <a:solidFill>
              <a:srgbClr val="8E63CE"/>
            </a:solidFill>
            <a:prstDash val="solid"/>
          </a:ln>
        </p:spPr>
      </p:sp>
      <p:sp>
        <p:nvSpPr>
          <p:cNvPr id="17" name="C3Tag"/>
          <p:cNvSpPr/>
          <p:nvPr/>
        </p:nvSpPr>
        <p:spPr>
          <a:xfrm>
            <a:off x="347472" y="2720000"/>
            <a:ext cx="402336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</a:rPr>
              <a:t>UI/UX</a:t>
            </a:r>
          </a:p>
        </p:txBody>
      </p:sp>
      <p:sp>
        <p:nvSpPr>
          <p:cNvPr id="18" name="C3H"/>
          <p:cNvSpPr/>
          <p:nvPr/>
        </p:nvSpPr>
        <p:spPr>
          <a:xfrm>
            <a:off x="841248" y="275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</a:rPr>
              <a:t>Feb W4 ’26 — 17% of feedback rows, highest rate in dataset. Needs immediate investigation</a:t>
            </a:r>
          </a:p>
        </p:txBody>
      </p:sp>
      <p:sp>
        <p:nvSpPr>
          <p:cNvPr id="19" name="C3B"/>
          <p:cNvSpPr/>
          <p:nvPr/>
        </p:nvSpPr>
        <p:spPr>
          <a:xfrm>
            <a:off x="841248" y="3050000"/>
            <a:ext cx="80467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</a:rPr>
              <a:t>Most recent week’s top bucket. Sharp end-of-period spike — likely tied to a UI change in late Jan/Feb. Also appearing in interview data (Jan W2, Jan W3).</a:t>
            </a:r>
          </a:p>
        </p:txBody>
      </p:sp>
      <p:sp>
        <p:nvSpPr>
          <p:cNvPr id="20" name="C4Bg"/>
          <p:cNvSpPr/>
          <p:nvPr/>
        </p:nvSpPr>
        <p:spPr>
          <a:xfrm>
            <a:off x="347472" y="3620000"/>
            <a:ext cx="8631936" cy="840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C4Acc"/>
          <p:cNvSpPr/>
          <p:nvPr/>
        </p:nvSpPr>
        <p:spPr>
          <a:xfrm>
            <a:off x="347472" y="3620000"/>
            <a:ext cx="402336" cy="8400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2" name="C4Tag"/>
          <p:cNvSpPr/>
          <p:nvPr/>
        </p:nvSpPr>
        <p:spPr>
          <a:xfrm>
            <a:off x="347472" y="3620000"/>
            <a:ext cx="402336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</a:rPr>
              <a:t>AI</a:t>
            </a:r>
          </a:p>
        </p:txBody>
      </p:sp>
      <p:sp>
        <p:nvSpPr>
          <p:cNvPr id="23" name="C4H"/>
          <p:cNvSpPr/>
          <p:nvPr/>
        </p:nvSpPr>
        <p:spPr>
          <a:xfrm>
            <a:off x="841248" y="365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</a:rPr>
              <a:t>AI Assistant complaints emerged Jan ’26, peaked 16%, now fading to 3%</a:t>
            </a:r>
          </a:p>
        </p:txBody>
      </p:sp>
      <p:sp>
        <p:nvSpPr>
          <p:cNvPr id="24" name="C4B"/>
          <p:cNvSpPr/>
          <p:nvPr/>
        </p:nvSpPr>
        <p:spPr>
          <a:xfrm>
            <a:off x="841248" y="3950000"/>
            <a:ext cx="80467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</a:rPr>
              <a:t>Near-zero before Dec 2025. Sharp spike Jan W4 ’26 (16%), declining to 3% by Feb W4. Pattern matches a feature launch or model change. Same timing in interview data.</a:t>
            </a:r>
          </a:p>
        </p:txBody>
      </p:sp>
      <p:sp>
        <p:nvSpPr>
          <p:cNvPr id="25" name="Footer"/>
          <p:cNvSpPr/>
          <p:nvPr/>
        </p:nvSpPr>
        <p:spPr>
          <a:xfrm>
            <a:off x="347472" y="4960000"/>
            <a:ext cx="8631936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</a:rPr>
              <a:t>Screen: 2,404 rows  ·  Interview: 97 rows  ·  Denominator: feedback rows per week  ·  HackerRank NextGen  ·  Q1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Assistant Usage — NextGen Q2 2026 Planning</dc:title>
  <dc:subject>Sep'25–Feb'26 | Screen &amp; Interviews</dc:subject>
  <dc:creator>HackerRank NextGen</dc:creator>
  <cp:lastModifiedBy>HackerRank NextGen</cp:lastModifiedBy>
  <cp:revision>1</cp:revision>
  <dcterms:created xsi:type="dcterms:W3CDTF">2026-03-05T15:50:42Z</dcterms:created>
  <dcterms:modified xsi:type="dcterms:W3CDTF">2026-03-05T15:50:42Z</dcterms:modified>
</cp:coreProperties>
</file>