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F3D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ENT (20)</c:v>
                </c:pt>
                <c:pt idx="1">
                  <c:v>SMB (6)</c:v>
                </c:pt>
                <c:pt idx="2">
                  <c:v>MM (4)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Service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Full-serve (23)</c:v>
                </c:pt>
                <c:pt idx="1">
                  <c:v>Self-serve (6)</c:v>
                </c:pt>
                <c:pt idx="2">
                  <c:v>Other (1)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23</c:v>
                </c:pt>
                <c:pt idx="1">
                  <c:v>6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Feedback Entries (proxy for usage activity)</c:v>
                </c:pt>
              </c:strCache>
            </c:strRef>
          </c:tx>
          <c:spPr>
            <a:solidFill>
              <a:srgbClr val="1A31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1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31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Nov 2025</c:v>
                  </c:pt>
                  <c:pt idx="1">
                    <c:v>Dec 2025</c:v>
                  </c:pt>
                  <c:pt idx="2">
                    <c:v>Jan 2026</c:v>
                  </c:pt>
                  <c:pt idx="3">
                    <c:v>Feb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6</c:v>
                </c:pt>
                <c:pt idx="2">
                  <c:v>8</c:v>
                </c:pt>
                <c:pt idx="3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315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2286000"/>
          </a:xfrm>
          <a:prstGeom prst="rect">
            <a:avLst/>
          </a:prstGeom>
          <a:solidFill>
            <a:srgbClr val="1A3157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15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74320"/>
            <a:ext cx="1371600" cy="13716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-91440"/>
            <a:ext cx="914400" cy="9144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  |  PRODUCT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777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Reports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7472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2025 Retrospective &amp; Q2 2026 Planning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7472" y="242316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 ·  Sep 2025 – Feb 2026  ·  March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47731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INTERNAL USE ONLY  ·  HackerRank Q2 2026 Planning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3063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737360" y="31821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Code Reports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0632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5120640" y="31821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183880" y="318211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/5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8404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Reports is live, adopted by 30 companies — now we need to scale.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97280"/>
            <a:ext cx="82296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25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baseline established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unique customers used Code Reports; 131 total attempts across 10 active repos in 6 months.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847088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847088"/>
            <a:ext cx="82296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7510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Interview-led, Screen is lagging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usage is in Interview (111 attempts). Screen accounts for only 15% (20 attempts) — a gap to close in Q2.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" y="2596896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596896"/>
            <a:ext cx="82296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24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content carries adoption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 library repos (6 of 243 total) generate 54% of all attempts. Custom content is underutilised.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3346704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346704"/>
            <a:ext cx="82296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signal is positive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candidate DLI of 4.16/5 across repos with ratings. Feedback avg 4.09/5 from 33 responses.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" y="4096512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4096512"/>
            <a:ext cx="82296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245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 outpaced activation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repos created, but 185 (76%) have zero tasks — content drafted but not completed or used.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73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INVENTORY  ·  SEP 2025 – FEB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383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Repos Created — But Most Are Incomplete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1051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600200" y="11612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repos created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81965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19293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with ≥1 task (ready)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587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60020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with 0 tasks (empty)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33558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600200" y="3465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repos (HackerRank)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412394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600200" y="4233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repos (company-made)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STACKS BY REPO COUNT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1353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08176"/>
            <a:ext cx="310896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408176"/>
            <a:ext cx="310896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3533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7922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847088"/>
            <a:ext cx="310896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847088"/>
            <a:ext cx="1036320" cy="237744"/>
          </a:xfrm>
          <a:prstGeom prst="rect">
            <a:avLst/>
          </a:prstGeom>
          <a:solidFill>
            <a:srgbClr val="1A3157"/>
          </a:solidFill>
          <a:ln/>
        </p:spPr>
      </p:sp>
      <p:sp>
        <p:nvSpPr>
          <p:cNvPr id="24" name="Text 22"/>
          <p:cNvSpPr/>
          <p:nvPr/>
        </p:nvSpPr>
        <p:spPr>
          <a:xfrm>
            <a:off x="7208520" y="179222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2311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286000"/>
            <a:ext cx="310896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2286000"/>
            <a:ext cx="916745" cy="237744"/>
          </a:xfrm>
          <a:prstGeom prst="rect">
            <a:avLst/>
          </a:prstGeom>
          <a:solidFill>
            <a:srgbClr val="1A3157"/>
          </a:solidFill>
          <a:ln/>
        </p:spPr>
      </p:sp>
      <p:sp>
        <p:nvSpPr>
          <p:cNvPr id="28" name="Text 26"/>
          <p:cNvSpPr/>
          <p:nvPr/>
        </p:nvSpPr>
        <p:spPr>
          <a:xfrm>
            <a:off x="7088945" y="22311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26700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Go+React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724912"/>
            <a:ext cx="310896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2724912"/>
            <a:ext cx="1195754" cy="237744"/>
          </a:xfrm>
          <a:prstGeom prst="rect">
            <a:avLst/>
          </a:prstGeom>
          <a:solidFill>
            <a:srgbClr val="1A3157"/>
          </a:solidFill>
          <a:ln/>
        </p:spPr>
      </p:sp>
      <p:sp>
        <p:nvSpPr>
          <p:cNvPr id="32" name="Text 30"/>
          <p:cNvSpPr/>
          <p:nvPr/>
        </p:nvSpPr>
        <p:spPr>
          <a:xfrm>
            <a:off x="7367954" y="26700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3108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on Rails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163824"/>
            <a:ext cx="310896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0" y="3163824"/>
            <a:ext cx="558018" cy="237744"/>
          </a:xfrm>
          <a:prstGeom prst="rect">
            <a:avLst/>
          </a:prstGeom>
          <a:solidFill>
            <a:srgbClr val="1A3157"/>
          </a:solidFill>
          <a:ln/>
        </p:spPr>
      </p:sp>
      <p:sp>
        <p:nvSpPr>
          <p:cNvPr id="36" name="Text 34"/>
          <p:cNvSpPr/>
          <p:nvPr/>
        </p:nvSpPr>
        <p:spPr>
          <a:xfrm>
            <a:off x="6730218" y="31089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3547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family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3602736"/>
            <a:ext cx="310896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6126480" y="3602736"/>
            <a:ext cx="677594" cy="237744"/>
          </a:xfrm>
          <a:prstGeom prst="rect">
            <a:avLst/>
          </a:prstGeom>
          <a:solidFill>
            <a:srgbClr val="1A3157"/>
          </a:solidFill>
          <a:ln/>
        </p:spPr>
      </p:sp>
      <p:sp>
        <p:nvSpPr>
          <p:cNvPr id="40" name="Text 38"/>
          <p:cNvSpPr/>
          <p:nvPr/>
        </p:nvSpPr>
        <p:spPr>
          <a:xfrm>
            <a:off x="6849794" y="354787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3986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4041648"/>
            <a:ext cx="310896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6126480" y="4041648"/>
            <a:ext cx="398585" cy="237744"/>
          </a:xfrm>
          <a:prstGeom prst="rect">
            <a:avLst/>
          </a:prstGeom>
          <a:solidFill>
            <a:srgbClr val="1A3157"/>
          </a:solidFill>
          <a:ln/>
        </p:spPr>
      </p:sp>
      <p:sp>
        <p:nvSpPr>
          <p:cNvPr id="44" name="Text 42"/>
          <p:cNvSpPr/>
          <p:nvPr/>
        </p:nvSpPr>
        <p:spPr>
          <a:xfrm>
            <a:off x="6570785" y="39867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44256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26480" y="4480560"/>
            <a:ext cx="310896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4480560"/>
            <a:ext cx="597877" cy="237744"/>
          </a:xfrm>
          <a:prstGeom prst="rect">
            <a:avLst/>
          </a:prstGeom>
          <a:solidFill>
            <a:srgbClr val="1A3157"/>
          </a:solidFill>
          <a:ln/>
        </p:spPr>
      </p:sp>
      <p:sp>
        <p:nvSpPr>
          <p:cNvPr id="48" name="Text 46"/>
          <p:cNvSpPr/>
          <p:nvPr/>
        </p:nvSpPr>
        <p:spPr>
          <a:xfrm>
            <a:off x="6770077" y="44256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" y="4663440"/>
            <a:ext cx="8503920" cy="3200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69087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fullstack role type  ·  Only 3% backend  ·  194 repos carry a [Draft] tag in their name — suggesting a large pipeline of unfinished work.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 ·  P0 METRIC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Companies · 131 Attempts · 10 Active Repos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2011680" cy="1920240"/>
          </a:xfrm>
          <a:prstGeom prst="rect">
            <a:avLst/>
          </a:prstGeom>
          <a:solidFill>
            <a:srgbClr val="1A31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53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38912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companies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Code Reports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1261872"/>
            <a:ext cx="2011680" cy="1920240"/>
          </a:xfrm>
          <a:prstGeom prst="rect">
            <a:avLst/>
          </a:prstGeom>
          <a:solidFill>
            <a:srgbClr val="1A31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1353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2670048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attempts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(interviews + screens)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1261872"/>
            <a:ext cx="2011680" cy="1920240"/>
          </a:xfrm>
          <a:prstGeom prst="rect">
            <a:avLst/>
          </a:prstGeom>
          <a:solidFill>
            <a:srgbClr val="1A31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1353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4901184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with usage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243 created)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1261872"/>
            <a:ext cx="2011680" cy="1920240"/>
          </a:xfrm>
          <a:prstGeom prst="rect">
            <a:avLst/>
          </a:prstGeom>
          <a:solidFill>
            <a:srgbClr val="1A31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1353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6986016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activation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(repos used / created)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364992"/>
            <a:ext cx="4160520" cy="1005840"/>
          </a:xfrm>
          <a:prstGeom prst="rect">
            <a:avLst/>
          </a:prstGeom>
          <a:solidFill>
            <a:srgbClr val="1A315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19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PRODUCT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7124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attempts  </a:t>
            </a:r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total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4663440" y="3364992"/>
            <a:ext cx="4160520" cy="1005840"/>
          </a:xfrm>
          <a:prstGeom prst="rect">
            <a:avLst/>
          </a:prstGeom>
          <a:solidFill>
            <a:srgbClr val="1A315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419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PRODUCT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73168" y="37124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attempts  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total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47731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4% activation rate signals a content readiness gap, not a demand problem. Companies want to use Code Reports — the content pipeline needs to catch up.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73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CONTENT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383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Repos Drive 100% of Usage. Top 3 Drive 72%.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87552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645920"/>
                <a:gridCol w="548640"/>
                <a:gridCol w="548640"/>
                <a:gridCol w="640080"/>
                <a:gridCol w="594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MovieDB Code Repo (MERN)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4.44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Uber: Banking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SpringBoot/Angular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Backend App – Java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MovieDB Code Repo (Spring Boot)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SpringBoot/Angular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App 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Go/React/MySQL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Melodio Code Repo (MERN)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Studio CodeRepo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Django/Angular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MovieDB Code Repo (Django)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Django/Angular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Shogi App – 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Code Repo (MERN)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7472" y="4535424"/>
            <a:ext cx="8503920" cy="402336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56285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repos (6 total) → 71 attempts (54%)  |  Custom repos (237 total) → 60 attempts (46%)  |  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content punches far above its weight.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USING CODE REPORTS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Active Companies — Mostly Large Enterprise in North America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155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82112" y="1097280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55264" y="11155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Inc.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16752" y="1097280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9904" y="11155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Software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1444752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4630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1444752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4630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6752" y="1444752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4630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1792224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8105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Buy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82112" y="1792224"/>
            <a:ext cx="2697480" cy="292608"/>
          </a:xfrm>
          <a:prstGeom prst="rect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18105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Origin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16752" y="1792224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18105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DraftKings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2139696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1579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GoDaddy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82112" y="2139696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5264" y="21579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Graphcore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16752" y="2139696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21579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2487168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5054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Inspekt AI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82112" y="2487168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55264" y="25054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16752" y="2487168"/>
            <a:ext cx="2697480" cy="292608"/>
          </a:xfrm>
          <a:prstGeom prst="rect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9904" y="25054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" y="2834640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28529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Stanley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82112" y="2834640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55264" y="28529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NBCSportsNext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16752" y="2834640"/>
            <a:ext cx="2697480" cy="292608"/>
          </a:xfrm>
          <a:prstGeom prst="rect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9904" y="28529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7472" y="3182112"/>
            <a:ext cx="2697480" cy="292608"/>
          </a:xfrm>
          <a:prstGeom prst="rect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" y="32004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82112" y="3182112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5264" y="32004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16752" y="3182112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9904" y="32004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Corporation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7472" y="3529584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35478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182112" y="3529584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5264" y="35478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16752" y="3529584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9904" y="35478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47472" y="3877056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38953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Tensure Consulting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182112" y="3877056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55264" y="38953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016752" y="3877056"/>
            <a:ext cx="2697480" cy="292608"/>
          </a:xfrm>
          <a:prstGeom prst="rect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89904" y="38953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47472" y="4224528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" y="42428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 Us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182112" y="4224528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55264" y="42428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16752" y="4224528"/>
            <a:ext cx="2697480" cy="292608"/>
          </a:xfrm>
          <a:prstGeom prst="rect">
            <a:avLst/>
          </a:prstGeom>
          <a:solidFill>
            <a:srgbClr val="1A3157"/>
          </a:solidFill>
          <a:ln w="6350">
            <a:solidFill>
              <a:srgbClr val="2A3F6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9904" y="42428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Yocale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7472" y="4709160"/>
            <a:ext cx="201168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6" name="Text 64"/>
          <p:cNvSpPr/>
          <p:nvPr/>
        </p:nvSpPr>
        <p:spPr>
          <a:xfrm>
            <a:off x="621792" y="4700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 companies (using &gt;1 Code Repo): Uber, Blue Origin, NVIDIA, Nuro, Microsoft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73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 ·  SEGMENT &amp; SERVICE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383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Dominates. Self-Serve SMBs Are Exploring.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SEGMENT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47472" y="1261872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 MODEL</a:t>
            </a:r>
            <a:endParaRPr lang="en-US" sz="9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846320" y="1261872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347472" y="4169664"/>
            <a:ext cx="8503920" cy="768096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1" name="Shape 7"/>
          <p:cNvSpPr/>
          <p:nvPr/>
        </p:nvSpPr>
        <p:spPr>
          <a:xfrm>
            <a:off x="347472" y="4169664"/>
            <a:ext cx="73152" cy="7680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42245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SMB companies are self-serve with $0 ARR — explorers, not revenue drivers yet.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ENT accounts by ARR: Walmart ($2.1M), Microsoft ($949K), Uber ($575K), Adobe ($503K), Morgan Stanley ($433K), NVIDIA ($335K), TikTok ($320K), Oracle ($275K).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73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 ·  REGION &amp; INDUSTRY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383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NAMER Owns Early Adoption. APAC Shows Promise. EMEA is Whitespace.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BREAKDOWN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3533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25880" y="1435608"/>
            <a:ext cx="32004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435608"/>
            <a:ext cx="3200400" cy="25603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3533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426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companies — breadth and depth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19202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25880" y="2002536"/>
            <a:ext cx="32004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25880" y="2002536"/>
            <a:ext cx="246185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9202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($320K ARR) + Agoda ($153K ARR)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2487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25880" y="2569464"/>
            <a:ext cx="32004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325880" y="2569464"/>
            <a:ext cx="123092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48716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Graphcore ($134K ARR) — 1 company 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30540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25880" y="3136392"/>
            <a:ext cx="32004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3136392"/>
            <a:ext cx="123092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05409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 (region unknown)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63931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712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MIX  (24 companies with known industry)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041648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4041648"/>
            <a:ext cx="1371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4114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Tech-Forward  50%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4352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GoDaddy, NVIDIA, BNY, Oracle, Morgan Stanley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27832" y="4041648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27832" y="4041648"/>
            <a:ext cx="795528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3319272" y="4114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Tech-First  29%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9272" y="4352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Adobe, TikTok, Palo Alto Networks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08192" y="4041648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08192" y="4041648"/>
            <a:ext cx="57607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199632" y="4114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 Tech  21%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99632" y="4352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Uber, Walmart, DraftKings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4754880"/>
            <a:ext cx="85039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7731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insight: TikTok + Agoda = $473K ARR. Dedicated APAC outreach + localised library content could unlock meaningful Q2 growth.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73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QUALITY SIGNALS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383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Responses · Avg 4.09/5 · Platform Reliability is the Key Risk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85039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Small sample (33 entries / 131 attempts = 25% response rate). All findings are directional only.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691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 5-star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1764792"/>
            <a:ext cx="164592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1764792"/>
            <a:ext cx="164592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16916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(48%)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21122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4-star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2185416"/>
            <a:ext cx="164592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2185416"/>
            <a:ext cx="1234440" cy="2194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3767328" y="21122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(36%)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5328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  3-star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57400" y="2606040"/>
            <a:ext cx="164592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25328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2953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  2-star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57400" y="3026664"/>
            <a:ext cx="164592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3026664"/>
            <a:ext cx="205740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767328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(6%)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3741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  1-star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57400" y="3447288"/>
            <a:ext cx="164592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2057400" y="3447288"/>
            <a:ext cx="30861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3767328" y="33741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(9%)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</a:t>
            </a:r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 / 5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Candidate avg: ~4.0  |  Interviewer avg: ~4.3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SAID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920240"/>
            <a:ext cx="416052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920240"/>
            <a:ext cx="64008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19476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environment worked well, the web preview was responsive and I was able to complete my test without issues." — Candidate, TIG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377440"/>
            <a:ext cx="416052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377440"/>
            <a:ext cx="64008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4791456" y="2404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"Good" — Candidate, BNY  |  Rating 5: Agoda, DraftKings, Inspekt AI, Microsoft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127248"/>
            <a:ext cx="4160520" cy="310896"/>
          </a:xfrm>
          <a:prstGeom prst="rect">
            <a:avLst/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127248"/>
            <a:ext cx="64008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791456" y="31455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"Very slow tool" — Candidate, Uber  [Rating: 2]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474720"/>
            <a:ext cx="4160520" cy="310896"/>
          </a:xfrm>
          <a:prstGeom prst="rect">
            <a:avLst/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474720"/>
            <a:ext cx="64008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4791456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 Assistant sucks" — Candidate, Uber  [Rating: 1] · flagged on 2 repos same session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822192"/>
            <a:ext cx="4160520" cy="310896"/>
          </a:xfrm>
          <a:prstGeom prst="rect">
            <a:avLst/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822192"/>
            <a:ext cx="64008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4791456" y="3840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"Had issues with the connection, wasn't able to finish" — Candidate, Inspekt AI  [Rating: 1]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4169664"/>
            <a:ext cx="4160520" cy="310896"/>
          </a:xfrm>
          <a:prstGeom prst="rect">
            <a:avLst/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4169664"/>
            <a:ext cx="64008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4791456" y="4187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"3rd answer may not have submitted... something went wrong" — Candidate, Aegis  [Rating: 2]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" y="4663440"/>
            <a:ext cx="8503920" cy="34747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908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pain points are platform / reliability issues — not content issues. This is a must-fix before broader scale.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 ·  ADOPTION IS ACCELERATING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 = 52% of All Feedback Activity. Momentum is Building.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47472" y="109728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ADOPTION MILESTONES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0" y="1517904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5751576" y="1709928"/>
            <a:ext cx="0" cy="237744"/>
          </a:xfrm>
          <a:prstGeom prst="line">
            <a:avLst/>
          </a:prstGeom>
          <a:noFill/>
          <a:ln w="12700">
            <a:solidFill>
              <a:srgbClr val="2A3F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444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Sep–Oct 2025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1645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MovieDB MERN first used by Palo Alto Networks, TikTok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93852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5751576" y="2130552"/>
            <a:ext cx="0" cy="237744"/>
          </a:xfrm>
          <a:prstGeom prst="line">
            <a:avLst/>
          </a:prstGeom>
          <a:noFill/>
          <a:ln w="12700">
            <a:solidFill>
              <a:srgbClr val="2A3F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8653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20665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begins Interview usage with custom Banking App repo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235915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5751576" y="2551176"/>
            <a:ext cx="0" cy="237744"/>
          </a:xfrm>
          <a:prstGeom prst="line">
            <a:avLst/>
          </a:prstGeom>
          <a:noFill/>
          <a:ln w="12700">
            <a:solidFill>
              <a:srgbClr val="2A3F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2286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3600" y="2487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DraftKings, Indeed, NVIDIA, Adobe adopt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2779776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Shape 17"/>
          <p:cNvSpPr/>
          <p:nvPr/>
        </p:nvSpPr>
        <p:spPr>
          <a:xfrm>
            <a:off x="5751576" y="2971800"/>
            <a:ext cx="0" cy="237744"/>
          </a:xfrm>
          <a:prstGeom prst="line">
            <a:avLst/>
          </a:prstGeom>
          <a:noFill/>
          <a:ln w="12700">
            <a:solidFill>
              <a:srgbClr val="2A3F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2706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0" y="29077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adoption begins — Aegis, TIG, Inspekt AI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669280" y="320040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31272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0" y="33284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month. Pendo, Blue Origin, AT&amp;T, Morgan Stanley, Walmart, GoDaddy join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347472" y="47731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feedback volume is a proxy for attempt activity. The trajectory is consistent — the product is ramping.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73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WATCH-OUTS  ·  BEFORE Q2 SCALE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383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Risks to Address Before Q2 Scale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2788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24128"/>
            <a:ext cx="278892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" y="1143000"/>
            <a:ext cx="8686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1521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4813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RELIABILITY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" y="2029968"/>
            <a:ext cx="24688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121408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experience and connectivity issues generated 1-star ratings. If unaddressed, early adopters will churn before the product reaches critical mass.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3566160"/>
            <a:ext cx="25146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NEEDED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858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fixes to AI assistant responsiveness, submission reliability, and connection stability.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55264" y="1024128"/>
            <a:ext cx="2788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55264" y="1024128"/>
            <a:ext cx="278892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3392424" y="1143000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392424" y="11521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92424" y="14813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ACTIVATION GAP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92424" y="2029968"/>
            <a:ext cx="24688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2121408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of 243 repos (76%) have zero tasks. Customers creating content but not completing it suggests onboarding friction or unclear authoring guidance.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92424" y="3566160"/>
            <a:ext cx="25146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456432" y="3611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NEEDED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56432" y="3858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 playbook, guardrails for publishing incomplete repos, or starter templates to reduce time-to-first-task.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1024128"/>
            <a:ext cx="2788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024128"/>
            <a:ext cx="2788920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0216" y="1143000"/>
            <a:ext cx="868680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11521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0216" y="14813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ADOPTION STALLED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00216" y="2029968"/>
            <a:ext cx="24688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2121408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 Screen attempts vs 111 Interview attempts. If Screen PMs aren't selecting Code Reports, the TAM is significantly constrained.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0216" y="3566160"/>
            <a:ext cx="25146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3611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NEEDED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64224" y="3858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Screen GTM motion; investigate why Screen product managers aren't selecting Code Reports.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Bets for Q2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788920" cy="3749040"/>
          </a:xfrm>
          <a:prstGeom prst="rect">
            <a:avLst/>
          </a:prstGeom>
          <a:solidFill>
            <a:srgbClr val="1A315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43000"/>
            <a:ext cx="278892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1261872"/>
            <a:ext cx="59436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2710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" y="120700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4632" y="16642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FOUNDATION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" y="2167128"/>
            <a:ext cx="2468880" cy="0"/>
          </a:xfrm>
          <a:prstGeom prst="line">
            <a:avLst/>
          </a:prstGeom>
          <a:noFill/>
          <a:ln w="10160">
            <a:solidFill>
              <a:srgbClr val="2A3F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26771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2311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AI assistant performance + connection reliability before scaling any distribution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274320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27066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submission confirmation UX — prevents candidate anxiety at deadline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" y="32186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 disable broken screen elements before next enterprise onboarding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4261104"/>
            <a:ext cx="2514600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793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Zero 1-star platform complaints by end of Q2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55264" y="1143000"/>
            <a:ext cx="2788920" cy="3749040"/>
          </a:xfrm>
          <a:prstGeom prst="rect">
            <a:avLst/>
          </a:prstGeom>
          <a:solidFill>
            <a:srgbClr val="1A31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5264" y="1143000"/>
            <a:ext cx="27889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3392424" y="1261872"/>
            <a:ext cx="59436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392424" y="12710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59936" y="120700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392424" y="16642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LIBRARY CONTENT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92424" y="2167128"/>
            <a:ext cx="2468880" cy="0"/>
          </a:xfrm>
          <a:prstGeom prst="line">
            <a:avLst/>
          </a:prstGeom>
          <a:noFill/>
          <a:ln w="10160">
            <a:solidFill>
              <a:srgbClr val="2A3F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19856" y="2267712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584448" y="22311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repos (6 of 243) generate 54% of usage — the ROI is proven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19856" y="274320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3584448" y="27066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stacks: Spring Boot (library), Go (library), Node.js (library)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19856" y="321868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584448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APAC-relevant content: fintech / financial services domain resonates with TikTok, Agoda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92424" y="4261104"/>
            <a:ext cx="251460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456432" y="42793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 new library repos published in Q2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63056" y="1143000"/>
            <a:ext cx="2788920" cy="3749040"/>
          </a:xfrm>
          <a:prstGeom prst="rect">
            <a:avLst/>
          </a:prstGeom>
          <a:solidFill>
            <a:srgbClr val="1A315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1143000"/>
            <a:ext cx="2788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0216" y="1261872"/>
            <a:ext cx="59436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300216" y="12710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7728" y="120700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300216" y="16642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SCREEN + EXPAND REGIONS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00216" y="2167128"/>
            <a:ext cx="2468880" cy="0"/>
          </a:xfrm>
          <a:prstGeom prst="line">
            <a:avLst/>
          </a:prstGeom>
          <a:noFill/>
          <a:ln w="10160">
            <a:solidFill>
              <a:srgbClr val="2A3F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27648" y="22677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22311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dedicated Screen pilot with 5 existing ENT accounts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27648" y="2743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27066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is virtually untapped — 1 company, $134K ARR. Identify 3 EMEA targets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27648" y="32186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492240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APAC: TikTok + Agoda are proof points — activate next 3 APAC accounts in Q2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0216" y="4261104"/>
            <a:ext cx="2514600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364224" y="42793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 new companies in Q2; Screen reaches 30%+ of attempts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73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DATA NOTES &amp;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2918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Definitions &amp; Caveats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4251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32688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875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2252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2025 – February 2026. Analysis restricted to code reports created in this window and attempts on those same reports.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920240"/>
            <a:ext cx="4251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920240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19751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2128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 files: content inventory (243 repos), usage data (131 attempts across 10 repos), feedback text (33 entries), company master (30 companies with segment/ARR/region).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907792"/>
            <a:ext cx="4251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907792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9626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DLI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" y="3200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rating given by candidates after completing a screen or interview attempt. Scale 1–5. Only available for attempts where feedback was submitted. The metric is named 'candidate_dli' in the source data.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3895344"/>
            <a:ext cx="4251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895344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" y="39502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at the attempt level, not the question or repo level. Attribution to specific content is inferred from which repo was used in the session, not a direct tag. All feedback trends are therefore directional.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82312" y="932688"/>
            <a:ext cx="4251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82312" y="932688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946904" y="9875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sample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46904" y="12252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entries across 131 attempts = 25% response rate. Statistically insufficient for significance testing. All findings marked as directional.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82312" y="1920240"/>
            <a:ext cx="4251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82312" y="1920240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946904" y="19751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vs custom repos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46904" y="22128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repos: owned and published by HackerRank, accessible to all customers. Custom repos: created by individual companies for their exclusive use. 6 library, 237 custom in the L6M window.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82312" y="2907792"/>
            <a:ext cx="4251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82312" y="2907792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946904" y="29626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master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46904" y="3200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companies in analysis are 'ever paid' customers. Segment types: ENT, MM (Mid-Market), SMB. Service types: full_serve (managed accounts), self_serve (direct/PLG). ARR from Salesforce as of 2026-03-02.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82312" y="3895344"/>
            <a:ext cx="4251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3895344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946904" y="39502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 breadth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46904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companies used more than one code repo: Uber (2 repos), Blue Origin (2), NVIDIA (3), Nuro (2), Microsoft (2). This is an early signal of cross-content adoption.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Reports: H2 2025 Retrospective &amp; Q2 2026 Planning</dc:title>
  <dc:subject>PptxGenJS Presentation</dc:subject>
  <dc:creator>PptxGenJS</dc:creator>
  <cp:lastModifiedBy>PptxGenJS</cp:lastModifiedBy>
  <cp:revision>1</cp:revision>
  <dcterms:created xsi:type="dcterms:W3CDTF">2026-03-02T15:12:47Z</dcterms:created>
  <dcterms:modified xsi:type="dcterms:W3CDTF">2026-03-02T15:12:47Z</dcterms:modified>
</cp:coreProperties>
</file>